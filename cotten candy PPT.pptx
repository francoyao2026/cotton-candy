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798" r:id="rId2"/>
  </p:sldMasterIdLst>
  <p:notesMasterIdLst>
    <p:notesMasterId r:id="rId12"/>
  </p:notesMasterIdLst>
  <p:sldIdLst>
    <p:sldId id="256" r:id="rId3"/>
    <p:sldId id="268" r:id="rId4"/>
    <p:sldId id="259" r:id="rId5"/>
    <p:sldId id="260" r:id="rId6"/>
    <p:sldId id="262" r:id="rId7"/>
    <p:sldId id="263" r:id="rId8"/>
    <p:sldId id="264" r:id="rId9"/>
    <p:sldId id="265" r:id="rId10"/>
    <p:sldId id="267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BC6F8A9-8E10-4410-A895-CAB7DDE3BC77}">
  <a:tblStyle styleId="{FBC6F8A9-8E10-4410-A895-CAB7DDE3BC7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5" autoAdjust="0"/>
    <p:restoredTop sz="94660"/>
  </p:normalViewPr>
  <p:slideViewPr>
    <p:cSldViewPr snapToGrid="0">
      <p:cViewPr varScale="1">
        <p:scale>
          <a:sx n="89" d="100"/>
          <a:sy n="89" d="100"/>
        </p:scale>
        <p:origin x="639" y="5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f1547e89b8_1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2f1547e89b8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f1547e89b8_1_1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g2f1547e89b8_1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78803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f1547e89b8_1_1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g2f1547e89b8_1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f1547e89b8_1_1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g2f1547e89b8_1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f1547e89b8_1_1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g2f1547e89b8_1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f1547e89b8_1_2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g2f1547e89b8_1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f1547e89b8_1_2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g2f1547e89b8_1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f1547e89b8_1_2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g2f1547e89b8_1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f1547e89b8_1_2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g2f1547e89b8_1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3625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159" y="514350"/>
            <a:ext cx="6000750" cy="2228851"/>
          </a:xfrm>
        </p:spPr>
        <p:txBody>
          <a:bodyPr anchor="b">
            <a:normAutofit/>
          </a:bodyPr>
          <a:lstStyle>
            <a:lvl1pPr algn="l">
              <a:defRPr sz="36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3159" y="2882900"/>
            <a:ext cx="4800600" cy="1460500"/>
          </a:xfrm>
        </p:spPr>
        <p:txBody>
          <a:bodyPr anchor="t">
            <a:normAutofit/>
          </a:bodyPr>
          <a:lstStyle>
            <a:lvl1pPr marL="0" indent="0" algn="l">
              <a:buNone/>
              <a:defRPr sz="1575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mtClean="0"/>
              <a:t>‹#›</a:t>
            </a:fld>
            <a:endParaRPr lang="en-CA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6171009" y="6350"/>
            <a:ext cx="2857500" cy="28575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4581128" y="68659"/>
            <a:ext cx="4560491" cy="45604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5426869" y="171450"/>
            <a:ext cx="3714750" cy="37147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5501878" y="24209"/>
            <a:ext cx="3639742" cy="3639742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884070" y="457201"/>
            <a:ext cx="3257549" cy="325754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3909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31298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1504950"/>
            <a:ext cx="6400801" cy="1711200"/>
          </a:xfrm>
        </p:spPr>
        <p:txBody>
          <a:bodyPr anchor="b">
            <a:normAutofit/>
          </a:bodyPr>
          <a:lstStyle>
            <a:lvl1pPr algn="l">
              <a:defRPr sz="27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371850"/>
            <a:ext cx="6400800" cy="11239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03960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3159" y="514351"/>
            <a:ext cx="3703241" cy="271145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6100" y="514351"/>
            <a:ext cx="3700859" cy="271145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46106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061" y="514350"/>
            <a:ext cx="348734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159" y="952897"/>
            <a:ext cx="3703241" cy="2272904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9299" y="514350"/>
            <a:ext cx="349885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54909" y="946546"/>
            <a:ext cx="3696891" cy="2272904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10921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80235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05090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3759" y="514350"/>
            <a:ext cx="2743200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514350"/>
            <a:ext cx="4457701" cy="398145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3759" y="1657350"/>
            <a:ext cx="2743200" cy="156845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38460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109" y="1085850"/>
            <a:ext cx="4514850" cy="85725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1759" y="685800"/>
            <a:ext cx="2460731" cy="3429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109" y="2082800"/>
            <a:ext cx="4516041" cy="1536700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5730364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14350" y="400050"/>
            <a:ext cx="8114109" cy="234315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85801" y="2882900"/>
            <a:ext cx="6228158" cy="3429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2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407771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anchor="ctr">
            <a:normAutofit/>
          </a:bodyPr>
          <a:lstStyle>
            <a:lvl1pPr algn="l">
              <a:defRPr sz="24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086100"/>
            <a:ext cx="6401991" cy="140970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31942510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514350"/>
            <a:ext cx="6858001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84659" y="2571750"/>
            <a:ext cx="6400800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225801"/>
            <a:ext cx="6400800" cy="1263649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mtClean="0"/>
              <a:t>‹#›</a:t>
            </a:fld>
            <a:endParaRPr lang="en-CA"/>
          </a:p>
        </p:txBody>
      </p:sp>
      <p:sp>
        <p:nvSpPr>
          <p:cNvPr id="14" name="TextBox 13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67443674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2571750"/>
            <a:ext cx="6400800" cy="1273050"/>
          </a:xfrm>
        </p:spPr>
        <p:txBody>
          <a:bodyPr anchor="b">
            <a:normAutofit/>
          </a:bodyPr>
          <a:lstStyle>
            <a:lvl1pPr algn="l">
              <a:defRPr sz="24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8" y="3849736"/>
            <a:ext cx="6401993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7181680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514350"/>
            <a:ext cx="6858000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0"/>
            <a:ext cx="6400801" cy="787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733800"/>
            <a:ext cx="6400801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mtClean="0"/>
              <a:t>‹#›</a:t>
            </a:fld>
            <a:endParaRPr lang="en-CA"/>
          </a:p>
        </p:txBody>
      </p:sp>
      <p:sp>
        <p:nvSpPr>
          <p:cNvPr id="11" name="TextBox 10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67584312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1"/>
            <a:ext cx="6400800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575049"/>
            <a:ext cx="6400801" cy="9207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2797543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73478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3909" y="514350"/>
            <a:ext cx="1543050" cy="3429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514350"/>
            <a:ext cx="5867400" cy="3981450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065760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905227" y="2222500"/>
            <a:ext cx="2236394" cy="2406650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3159" y="3365499"/>
            <a:ext cx="6400800" cy="11303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514351"/>
            <a:ext cx="6400800" cy="2711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8309" y="4629150"/>
            <a:ext cx="12001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3159" y="4629150"/>
            <a:ext cx="56578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2400" y="4183857"/>
            <a:ext cx="856684" cy="5024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4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9656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11" r:id="rId13"/>
    <p:sldLayoutId id="2147483812" r:id="rId14"/>
    <p:sldLayoutId id="2147483813" r:id="rId15"/>
    <p:sldLayoutId id="2147483814" r:id="rId16"/>
    <p:sldLayoutId id="2147483815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5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3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0000"/>
          </a:blip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70C0">
              <a:alpha val="65882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749141" y="421481"/>
            <a:ext cx="7645717" cy="4301014"/>
          </a:xfrm>
          <a:prstGeom prst="rect">
            <a:avLst/>
          </a:prstGeom>
          <a:noFill/>
          <a:ln w="571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25"/>
          <p:cNvCxnSpPr/>
          <p:nvPr/>
        </p:nvCxnSpPr>
        <p:spPr>
          <a:xfrm>
            <a:off x="7545705" y="770096"/>
            <a:ext cx="349568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32" name="Google Shape;132;p25"/>
          <p:cNvGrpSpPr/>
          <p:nvPr/>
        </p:nvGrpSpPr>
        <p:grpSpPr>
          <a:xfrm>
            <a:off x="1126331" y="633951"/>
            <a:ext cx="6724174" cy="1937799"/>
            <a:chOff x="2365" y="5302"/>
            <a:chExt cx="14119" cy="1937799"/>
          </a:xfrm>
        </p:grpSpPr>
        <p:sp>
          <p:nvSpPr>
            <p:cNvPr id="133" name="Google Shape;133;p25"/>
            <p:cNvSpPr txBox="1"/>
            <p:nvPr/>
          </p:nvSpPr>
          <p:spPr>
            <a:xfrm>
              <a:off x="2365" y="951548"/>
              <a:ext cx="14119" cy="9915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3000" b="0" i="1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COTTON CANDY VENDING MACHINE</a:t>
              </a:r>
              <a:endParaRPr sz="3000" b="0" i="1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4" name="Google Shape;134;p25"/>
            <p:cNvCxnSpPr/>
            <p:nvPr/>
          </p:nvCxnSpPr>
          <p:spPr>
            <a:xfrm>
              <a:off x="4836" y="5616"/>
              <a:ext cx="3116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oval" w="med" len="med"/>
            </a:ln>
          </p:spPr>
        </p:cxnSp>
        <p:cxnSp>
          <p:nvCxnSpPr>
            <p:cNvPr id="135" name="Google Shape;135;p25"/>
            <p:cNvCxnSpPr/>
            <p:nvPr/>
          </p:nvCxnSpPr>
          <p:spPr>
            <a:xfrm rot="10800000">
              <a:off x="11051" y="5616"/>
              <a:ext cx="3116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oval" w="med" len="med"/>
            </a:ln>
          </p:spPr>
        </p:cxnSp>
        <p:sp>
          <p:nvSpPr>
            <p:cNvPr id="136" name="Google Shape;136;p25"/>
            <p:cNvSpPr txBox="1"/>
            <p:nvPr/>
          </p:nvSpPr>
          <p:spPr>
            <a:xfrm>
              <a:off x="8148" y="5302"/>
              <a:ext cx="2741" cy="6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15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Smart Retail</a:t>
              </a:r>
              <a:endParaRPr sz="15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38" name="Google Shape;138;p25"/>
          <p:cNvCxnSpPr>
            <a:cxnSpLocks/>
          </p:cNvCxnSpPr>
          <p:nvPr/>
        </p:nvCxnSpPr>
        <p:spPr>
          <a:xfrm>
            <a:off x="7425214" y="4457700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C1454187-CA0C-C0F3-01AD-46E2DB1A1160}"/>
              </a:ext>
            </a:extLst>
          </p:cNvPr>
          <p:cNvSpPr txBox="1"/>
          <p:nvPr/>
        </p:nvSpPr>
        <p:spPr>
          <a:xfrm>
            <a:off x="4571999" y="3419297"/>
            <a:ext cx="297370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chemeClr val="lt1"/>
                </a:solidFill>
              </a:rPr>
              <a:t>Franco Yao </a:t>
            </a:r>
          </a:p>
          <a:p>
            <a:r>
              <a:rPr lang="en-CA" dirty="0" err="1">
                <a:solidFill>
                  <a:schemeClr val="lt1"/>
                </a:solidFill>
              </a:rPr>
              <a:t>Rockstream</a:t>
            </a:r>
            <a:r>
              <a:rPr lang="en-CA" dirty="0">
                <a:solidFill>
                  <a:schemeClr val="lt1"/>
                </a:solidFill>
              </a:rPr>
              <a:t> Automation  Inc.</a:t>
            </a:r>
          </a:p>
          <a:p>
            <a:r>
              <a:rPr lang="en-CA" dirty="0">
                <a:solidFill>
                  <a:schemeClr val="lt1"/>
                </a:solidFill>
              </a:rPr>
              <a:t>403-9880863</a:t>
            </a:r>
          </a:p>
          <a:p>
            <a:r>
              <a:rPr lang="en-US" altLang="zh-CN" dirty="0">
                <a:solidFill>
                  <a:schemeClr val="lt1"/>
                </a:solidFill>
              </a:rPr>
              <a:t>Franco_yao@163</a:t>
            </a:r>
            <a:r>
              <a:rPr lang="en-US" altLang="zh-CN">
                <a:solidFill>
                  <a:schemeClr val="lt1"/>
                </a:solidFill>
              </a:rPr>
              <a:t>.com</a:t>
            </a:r>
            <a:endParaRPr lang="en-US" altLang="zh-CN" dirty="0">
              <a:solidFill>
                <a:schemeClr val="lt1"/>
              </a:solidFill>
            </a:endParaRPr>
          </a:p>
          <a:p>
            <a:endParaRPr lang="en-CA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/>
          <p:nvPr/>
        </p:nvSpPr>
        <p:spPr>
          <a:xfrm>
            <a:off x="2915649" y="255270"/>
            <a:ext cx="3044666" cy="391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100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1. Our Product</a:t>
            </a:r>
            <a:endParaRPr sz="2100" dirty="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34C0888-10D2-98CE-7C0B-28E031E40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0515" y="1108150"/>
            <a:ext cx="2434933" cy="324657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80C5C15-948F-F78D-FEAF-B4D9D649A1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716" y="1108150"/>
            <a:ext cx="2434933" cy="324657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0093E2F-2FED-C4FA-7E18-65BE2AC8F3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5517" y="1108151"/>
            <a:ext cx="2434933" cy="3246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531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/>
          <p:nvPr/>
        </p:nvSpPr>
        <p:spPr>
          <a:xfrm>
            <a:off x="2915649" y="255270"/>
            <a:ext cx="3044666" cy="391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100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1. Machine A</a:t>
            </a:r>
            <a:endParaRPr sz="2100" dirty="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7" name="Google Shape;187;p28"/>
          <p:cNvGrpSpPr/>
          <p:nvPr/>
        </p:nvGrpSpPr>
        <p:grpSpPr>
          <a:xfrm>
            <a:off x="50482" y="1101566"/>
            <a:ext cx="8905399" cy="3590925"/>
            <a:chOff x="106" y="1950"/>
            <a:chExt cx="18699" cy="7540"/>
          </a:xfrm>
        </p:grpSpPr>
        <p:sp>
          <p:nvSpPr>
            <p:cNvPr id="188" name="Google Shape;188;p28"/>
            <p:cNvSpPr txBox="1"/>
            <p:nvPr/>
          </p:nvSpPr>
          <p:spPr>
            <a:xfrm>
              <a:off x="106" y="2414"/>
              <a:ext cx="4743" cy="6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1500">
                  <a:solidFill>
                    <a:srgbClr val="1F3864"/>
                  </a:solidFill>
                  <a:latin typeface="Arial"/>
                  <a:ea typeface="Arial"/>
                  <a:cs typeface="Arial"/>
                  <a:sym typeface="Arial"/>
                </a:rPr>
                <a:t>Personalized light box</a:t>
              </a:r>
              <a:endParaRPr sz="15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8"/>
            <p:cNvSpPr txBox="1"/>
            <p:nvPr/>
          </p:nvSpPr>
          <p:spPr>
            <a:xfrm>
              <a:off x="106" y="4192"/>
              <a:ext cx="4743" cy="6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1500">
                  <a:solidFill>
                    <a:srgbClr val="1F3864"/>
                  </a:solidFill>
                  <a:latin typeface="Arial"/>
                  <a:ea typeface="Arial"/>
                  <a:cs typeface="Arial"/>
                  <a:sym typeface="Arial"/>
                </a:rPr>
                <a:t>Credit card payment</a:t>
              </a:r>
              <a:endParaRPr sz="15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8"/>
            <p:cNvSpPr txBox="1"/>
            <p:nvPr/>
          </p:nvSpPr>
          <p:spPr>
            <a:xfrm>
              <a:off x="106" y="5970"/>
              <a:ext cx="4743" cy="6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1500">
                  <a:solidFill>
                    <a:srgbClr val="1F3864"/>
                  </a:solidFill>
                  <a:latin typeface="Arial"/>
                  <a:ea typeface="Arial"/>
                  <a:cs typeface="Arial"/>
                  <a:sym typeface="Arial"/>
                </a:rPr>
                <a:t>Automated Door</a:t>
              </a:r>
              <a:endParaRPr sz="15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8"/>
            <p:cNvSpPr txBox="1"/>
            <p:nvPr/>
          </p:nvSpPr>
          <p:spPr>
            <a:xfrm>
              <a:off x="106" y="7748"/>
              <a:ext cx="4743" cy="6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1500">
                  <a:solidFill>
                    <a:srgbClr val="1F3864"/>
                  </a:solidFill>
                  <a:latin typeface="Arial"/>
                  <a:ea typeface="Arial"/>
                  <a:cs typeface="Arial"/>
                  <a:sym typeface="Arial"/>
                </a:rPr>
                <a:t>Manipulator</a:t>
              </a:r>
              <a:endParaRPr sz="15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8"/>
            <p:cNvSpPr txBox="1"/>
            <p:nvPr/>
          </p:nvSpPr>
          <p:spPr>
            <a:xfrm>
              <a:off x="13877" y="2414"/>
              <a:ext cx="4928" cy="11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1500">
                  <a:solidFill>
                    <a:srgbClr val="1F3864"/>
                  </a:solidFill>
                  <a:latin typeface="Arial"/>
                  <a:ea typeface="Arial"/>
                  <a:cs typeface="Arial"/>
                  <a:sym typeface="Arial"/>
                </a:rPr>
                <a:t>Operation screen (Support DIY)</a:t>
              </a:r>
              <a:endParaRPr sz="15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8"/>
            <p:cNvSpPr txBox="1"/>
            <p:nvPr/>
          </p:nvSpPr>
          <p:spPr>
            <a:xfrm>
              <a:off x="13877" y="4610"/>
              <a:ext cx="4743" cy="6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1500">
                  <a:solidFill>
                    <a:srgbClr val="1F3864"/>
                  </a:solidFill>
                  <a:latin typeface="Arial"/>
                  <a:ea typeface="Arial"/>
                  <a:cs typeface="Arial"/>
                  <a:sym typeface="Arial"/>
                </a:rPr>
                <a:t>Pressing knife</a:t>
              </a:r>
              <a:endParaRPr sz="15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8"/>
            <p:cNvSpPr txBox="1"/>
            <p:nvPr/>
          </p:nvSpPr>
          <p:spPr>
            <a:xfrm>
              <a:off x="13877" y="6828"/>
              <a:ext cx="4743" cy="6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1500">
                  <a:solidFill>
                    <a:srgbClr val="1F3864"/>
                  </a:solidFill>
                  <a:latin typeface="Arial"/>
                  <a:ea typeface="Arial"/>
                  <a:cs typeface="Arial"/>
                  <a:sym typeface="Arial"/>
                </a:rPr>
                <a:t>Burner</a:t>
              </a:r>
              <a:endParaRPr sz="15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8"/>
            <p:cNvSpPr txBox="1"/>
            <p:nvPr/>
          </p:nvSpPr>
          <p:spPr>
            <a:xfrm>
              <a:off x="13877" y="8606"/>
              <a:ext cx="4743" cy="6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1500">
                  <a:solidFill>
                    <a:srgbClr val="1F3864"/>
                  </a:solidFill>
                  <a:latin typeface="Arial"/>
                  <a:ea typeface="Arial"/>
                  <a:cs typeface="Arial"/>
                  <a:sym typeface="Arial"/>
                </a:rPr>
                <a:t>Sugar bin</a:t>
              </a:r>
              <a:endParaRPr sz="15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6" name="Google Shape;196;p28" descr="330A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774" y="1950"/>
              <a:ext cx="5144" cy="754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7" name="Google Shape;197;p28"/>
            <p:cNvCxnSpPr/>
            <p:nvPr/>
          </p:nvCxnSpPr>
          <p:spPr>
            <a:xfrm flipH="1">
              <a:off x="5421" y="2594"/>
              <a:ext cx="2225" cy="151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8" name="Google Shape;198;p28"/>
            <p:cNvCxnSpPr/>
            <p:nvPr/>
          </p:nvCxnSpPr>
          <p:spPr>
            <a:xfrm flipH="1">
              <a:off x="5421" y="3689"/>
              <a:ext cx="3520" cy="817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9" name="Google Shape;199;p28"/>
            <p:cNvCxnSpPr/>
            <p:nvPr/>
          </p:nvCxnSpPr>
          <p:spPr>
            <a:xfrm flipH="1">
              <a:off x="5421" y="6047"/>
              <a:ext cx="2016" cy="557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0" name="Google Shape;200;p28"/>
            <p:cNvCxnSpPr/>
            <p:nvPr/>
          </p:nvCxnSpPr>
          <p:spPr>
            <a:xfrm flipH="1">
              <a:off x="5421" y="6320"/>
              <a:ext cx="4181" cy="1742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1" name="Google Shape;201;p28"/>
            <p:cNvCxnSpPr/>
            <p:nvPr/>
          </p:nvCxnSpPr>
          <p:spPr>
            <a:xfrm rot="10800000" flipH="1">
              <a:off x="10682" y="3081"/>
              <a:ext cx="2445" cy="869"/>
            </a:xfrm>
            <a:prstGeom prst="straightConnector1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2" name="Google Shape;202;p28"/>
            <p:cNvCxnSpPr/>
            <p:nvPr/>
          </p:nvCxnSpPr>
          <p:spPr>
            <a:xfrm rot="10800000" flipH="1">
              <a:off x="10288" y="4947"/>
              <a:ext cx="2839" cy="463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3" name="Google Shape;203;p28"/>
            <p:cNvCxnSpPr/>
            <p:nvPr/>
          </p:nvCxnSpPr>
          <p:spPr>
            <a:xfrm>
              <a:off x="10879" y="7195"/>
              <a:ext cx="2248" cy="23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4" name="Google Shape;204;p28"/>
            <p:cNvCxnSpPr/>
            <p:nvPr/>
          </p:nvCxnSpPr>
          <p:spPr>
            <a:xfrm>
              <a:off x="9918" y="7368"/>
              <a:ext cx="3209" cy="1287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9"/>
          <p:cNvSpPr txBox="1"/>
          <p:nvPr/>
        </p:nvSpPr>
        <p:spPr>
          <a:xfrm>
            <a:off x="1428750" y="221456"/>
            <a:ext cx="6286976" cy="391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100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Basic parameters</a:t>
            </a:r>
            <a:endParaRPr sz="2100" dirty="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p29" descr="组 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68290" y="1204913"/>
            <a:ext cx="3315652" cy="327802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1" name="Google Shape;211;p29"/>
          <p:cNvGraphicFramePr/>
          <p:nvPr/>
        </p:nvGraphicFramePr>
        <p:xfrm>
          <a:off x="324565" y="908209"/>
          <a:ext cx="4620575" cy="3718400"/>
        </p:xfrm>
        <a:graphic>
          <a:graphicData uri="http://schemas.openxmlformats.org/drawingml/2006/table">
            <a:tbl>
              <a:tblPr firstRow="1" bandRow="1">
                <a:noFill/>
                <a:tableStyleId>{FBC6F8A9-8E10-4410-A895-CAB7DDE3BC77}</a:tableStyleId>
              </a:tblPr>
              <a:tblGrid>
                <a:gridCol w="4620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4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Arial"/>
                        <a:buNone/>
                      </a:pPr>
                      <a:r>
                        <a:rPr lang="en-CA" sz="15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Extermal dimension:  1332*671*2001mm</a:t>
                      </a:r>
                      <a:endParaRPr sz="1500" b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72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Arial"/>
                        <a:buNone/>
                      </a:pPr>
                      <a:r>
                        <a:rPr lang="en-CA" sz="15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Machine weight:  210kg</a:t>
                      </a:r>
                      <a:endParaRPr sz="1500" b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72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Arial"/>
                        <a:buNone/>
                      </a:pPr>
                      <a:r>
                        <a:rPr lang="en-CA" sz="15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Maximum power:  2700W</a:t>
                      </a:r>
                      <a:endParaRPr sz="1500" b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72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Arial"/>
                        <a:buNone/>
                      </a:pPr>
                      <a:r>
                        <a:rPr lang="en-CA" sz="15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Rated Voltage:  AC 220V/110V</a:t>
                      </a:r>
                      <a:endParaRPr sz="1500" b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72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Arial"/>
                        <a:buNone/>
                      </a:pPr>
                      <a:r>
                        <a:rPr lang="en-CA" sz="15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Make Pattern:  60 Kinds</a:t>
                      </a:r>
                      <a:endParaRPr sz="1500" b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72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Arial"/>
                        <a:buNone/>
                      </a:pPr>
                      <a:r>
                        <a:rPr lang="en-CA" sz="15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Time ofcandy making:  70-130S</a:t>
                      </a:r>
                      <a:endParaRPr sz="1500" b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72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4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Arial"/>
                        <a:buNone/>
                      </a:pPr>
                      <a:r>
                        <a:rPr lang="en-CA" sz="15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Full material to make sugar:  200-250</a:t>
                      </a:r>
                      <a:endParaRPr sz="1500" b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72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4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Arial"/>
                        <a:buNone/>
                      </a:pPr>
                      <a:r>
                        <a:rPr lang="en-CA" sz="15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 environment:  0-50℃</a:t>
                      </a:r>
                      <a:endParaRPr sz="1500" b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72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12" name="Google Shape;212;p29"/>
          <p:cNvSpPr txBox="1"/>
          <p:nvPr/>
        </p:nvSpPr>
        <p:spPr>
          <a:xfrm>
            <a:off x="-11906" y="4743926"/>
            <a:ext cx="5293519" cy="172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700" dirty="0">
                <a:solidFill>
                  <a:srgbClr val="0272C5"/>
                </a:solidFill>
                <a:latin typeface="Arial"/>
                <a:ea typeface="Arial"/>
                <a:cs typeface="Arial"/>
                <a:sym typeface="Arial"/>
              </a:rPr>
              <a:t>Due to the continuous upgrade of the equipment version, the data parameters shall be subject to the actual equipment</a:t>
            </a:r>
            <a:endParaRPr sz="700" dirty="0">
              <a:solidFill>
                <a:srgbClr val="0272C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31" descr="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98445" y="533400"/>
            <a:ext cx="3191827" cy="435435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1"/>
          <p:cNvSpPr txBox="1"/>
          <p:nvPr/>
        </p:nvSpPr>
        <p:spPr>
          <a:xfrm>
            <a:off x="2323624" y="221456"/>
            <a:ext cx="4296727" cy="391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100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2.  Machine B</a:t>
            </a:r>
            <a:endParaRPr sz="2100" dirty="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1"/>
          <p:cNvSpPr txBox="1"/>
          <p:nvPr/>
        </p:nvSpPr>
        <p:spPr>
          <a:xfrm>
            <a:off x="76676" y="1168004"/>
            <a:ext cx="2258854" cy="29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Personalized light box</a:t>
            </a:r>
            <a:endParaRPr sz="15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1"/>
          <p:cNvSpPr txBox="1"/>
          <p:nvPr/>
        </p:nvSpPr>
        <p:spPr>
          <a:xfrm>
            <a:off x="476" y="1959769"/>
            <a:ext cx="2335054" cy="530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Apple pay,</a:t>
            </a:r>
            <a:endParaRPr sz="15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SAMSUNG pay...</a:t>
            </a:r>
            <a:endParaRPr sz="15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1"/>
          <p:cNvSpPr txBox="1"/>
          <p:nvPr/>
        </p:nvSpPr>
        <p:spPr>
          <a:xfrm>
            <a:off x="76676" y="2890124"/>
            <a:ext cx="2258854" cy="29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Automated Door</a:t>
            </a:r>
            <a:endParaRPr sz="15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1"/>
          <p:cNvSpPr txBox="1"/>
          <p:nvPr/>
        </p:nvSpPr>
        <p:spPr>
          <a:xfrm>
            <a:off x="76676" y="3768329"/>
            <a:ext cx="2258854" cy="29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Manipulator</a:t>
            </a:r>
            <a:endParaRPr sz="15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31"/>
          <p:cNvSpPr txBox="1"/>
          <p:nvPr/>
        </p:nvSpPr>
        <p:spPr>
          <a:xfrm>
            <a:off x="6561773" y="1235393"/>
            <a:ext cx="2165032" cy="530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Operation screen (Support DIY)</a:t>
            </a:r>
            <a:endParaRPr sz="15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1"/>
          <p:cNvSpPr txBox="1"/>
          <p:nvPr/>
        </p:nvSpPr>
        <p:spPr>
          <a:xfrm>
            <a:off x="6561773" y="2258140"/>
            <a:ext cx="2258854" cy="29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Pressing knife</a:t>
            </a:r>
            <a:endParaRPr sz="15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1"/>
          <p:cNvSpPr txBox="1"/>
          <p:nvPr/>
        </p:nvSpPr>
        <p:spPr>
          <a:xfrm>
            <a:off x="6561773" y="3104912"/>
            <a:ext cx="2258854" cy="29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Burner</a:t>
            </a:r>
            <a:endParaRPr sz="15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1"/>
          <p:cNvSpPr txBox="1"/>
          <p:nvPr/>
        </p:nvSpPr>
        <p:spPr>
          <a:xfrm>
            <a:off x="6561773" y="3773567"/>
            <a:ext cx="2258854" cy="29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Sugar bin</a:t>
            </a:r>
            <a:endParaRPr sz="150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2" name="Google Shape;252;p31"/>
          <p:cNvCxnSpPr/>
          <p:nvPr/>
        </p:nvCxnSpPr>
        <p:spPr>
          <a:xfrm flipH="1">
            <a:off x="2655094" y="1196816"/>
            <a:ext cx="862489" cy="11049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3" name="Google Shape;253;p31"/>
          <p:cNvCxnSpPr/>
          <p:nvPr/>
        </p:nvCxnSpPr>
        <p:spPr>
          <a:xfrm flipH="1">
            <a:off x="2655094" y="2141220"/>
            <a:ext cx="1637824" cy="74295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4" name="Google Shape;254;p31"/>
          <p:cNvCxnSpPr/>
          <p:nvPr/>
        </p:nvCxnSpPr>
        <p:spPr>
          <a:xfrm flipH="1">
            <a:off x="2655094" y="2879884"/>
            <a:ext cx="911542" cy="132397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5" name="Google Shape;255;p31"/>
          <p:cNvCxnSpPr/>
          <p:nvPr/>
        </p:nvCxnSpPr>
        <p:spPr>
          <a:xfrm flipH="1">
            <a:off x="2655094" y="3360420"/>
            <a:ext cx="1974533" cy="548640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6" name="Google Shape;256;p31"/>
          <p:cNvCxnSpPr/>
          <p:nvPr/>
        </p:nvCxnSpPr>
        <p:spPr>
          <a:xfrm rot="10800000" flipH="1">
            <a:off x="5109210" y="1467326"/>
            <a:ext cx="1164431" cy="413861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7" name="Google Shape;257;p31"/>
          <p:cNvCxnSpPr/>
          <p:nvPr/>
        </p:nvCxnSpPr>
        <p:spPr>
          <a:xfrm rot="10800000" flipH="1">
            <a:off x="4921568" y="2435066"/>
            <a:ext cx="1352074" cy="220504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8" name="Google Shape;258;p31"/>
          <p:cNvCxnSpPr/>
          <p:nvPr/>
        </p:nvCxnSpPr>
        <p:spPr>
          <a:xfrm rot="10800000" flipH="1">
            <a:off x="5269230" y="3282791"/>
            <a:ext cx="1004411" cy="215265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9" name="Google Shape;259;p31"/>
          <p:cNvCxnSpPr/>
          <p:nvPr/>
        </p:nvCxnSpPr>
        <p:spPr>
          <a:xfrm>
            <a:off x="4751070" y="3509010"/>
            <a:ext cx="1522571" cy="370046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60" name="Google Shape;260;p31" descr="6bdc59bf5c80faf4d1cf821b18998e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24814" y="2032159"/>
            <a:ext cx="178118" cy="223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2"/>
          <p:cNvSpPr txBox="1"/>
          <p:nvPr/>
        </p:nvSpPr>
        <p:spPr>
          <a:xfrm>
            <a:off x="1428750" y="221456"/>
            <a:ext cx="6286976" cy="391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100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Basic parameters</a:t>
            </a:r>
            <a:endParaRPr sz="2100" dirty="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6" name="Google Shape;266;p32"/>
          <p:cNvGraphicFramePr/>
          <p:nvPr/>
        </p:nvGraphicFramePr>
        <p:xfrm>
          <a:off x="4027409" y="908209"/>
          <a:ext cx="4620575" cy="3718400"/>
        </p:xfrm>
        <a:graphic>
          <a:graphicData uri="http://schemas.openxmlformats.org/drawingml/2006/table">
            <a:tbl>
              <a:tblPr firstRow="1" bandRow="1">
                <a:noFill/>
                <a:tableStyleId>{FBC6F8A9-8E10-4410-A895-CAB7DDE3BC77}</a:tableStyleId>
              </a:tblPr>
              <a:tblGrid>
                <a:gridCol w="4620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4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Arial"/>
                        <a:buNone/>
                      </a:pPr>
                      <a:r>
                        <a:rPr lang="en-CA" sz="15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Extermal dimension:  1332*671*2001mm</a:t>
                      </a:r>
                      <a:endParaRPr sz="1500" b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72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Arial"/>
                        <a:buNone/>
                      </a:pPr>
                      <a:r>
                        <a:rPr lang="en-CA" sz="15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Machine weight:  210kg</a:t>
                      </a:r>
                      <a:endParaRPr sz="1500" b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72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Arial"/>
                        <a:buNone/>
                      </a:pPr>
                      <a:r>
                        <a:rPr lang="en-CA" sz="15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Maximum power:  2700W</a:t>
                      </a:r>
                      <a:endParaRPr sz="1500" b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72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Arial"/>
                        <a:buNone/>
                      </a:pPr>
                      <a:r>
                        <a:rPr lang="en-CA" sz="15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Rated Voltage:  AC 220V/110V</a:t>
                      </a:r>
                      <a:endParaRPr sz="1500" b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72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Arial"/>
                        <a:buNone/>
                      </a:pPr>
                      <a:r>
                        <a:rPr lang="en-CA" sz="15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Make Pattern:  60 Kinds</a:t>
                      </a:r>
                      <a:endParaRPr sz="1500" b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72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Arial"/>
                        <a:buNone/>
                      </a:pPr>
                      <a:r>
                        <a:rPr lang="en-CA" sz="15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Time ofcandy making:  70-130S</a:t>
                      </a:r>
                      <a:endParaRPr sz="1500" b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72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4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Arial"/>
                        <a:buNone/>
                      </a:pPr>
                      <a:r>
                        <a:rPr lang="en-CA" sz="15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Full material to make sugar:  200-250个</a:t>
                      </a:r>
                      <a:endParaRPr sz="1500" b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72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4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Arial"/>
                        <a:buNone/>
                      </a:pPr>
                      <a:r>
                        <a:rPr lang="en-CA" sz="1500" b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 environment:  0-50℃</a:t>
                      </a:r>
                      <a:endParaRPr sz="1500" b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72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67" name="Google Shape;267;p32"/>
          <p:cNvSpPr txBox="1"/>
          <p:nvPr/>
        </p:nvSpPr>
        <p:spPr>
          <a:xfrm>
            <a:off x="3690938" y="4806791"/>
            <a:ext cx="5293519" cy="172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700">
                <a:solidFill>
                  <a:srgbClr val="0272C5"/>
                </a:solidFill>
                <a:latin typeface="Arial"/>
                <a:ea typeface="Arial"/>
                <a:cs typeface="Arial"/>
                <a:sym typeface="Arial"/>
              </a:rPr>
              <a:t>Due to the continuous upgrade of the equipment version, the data parameters shall be subject to the actual equipment</a:t>
            </a:r>
            <a:endParaRPr sz="700">
              <a:solidFill>
                <a:srgbClr val="0272C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Google Shape;268;p32" descr="组 8 拷贝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3883" y="1056799"/>
            <a:ext cx="2799874" cy="3700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3"/>
          <p:cNvSpPr/>
          <p:nvPr/>
        </p:nvSpPr>
        <p:spPr>
          <a:xfrm>
            <a:off x="1621155" y="1665922"/>
            <a:ext cx="5902166" cy="3350419"/>
          </a:xfrm>
          <a:prstGeom prst="rect">
            <a:avLst/>
          </a:prstGeom>
          <a:solidFill>
            <a:srgbClr val="0272C5"/>
          </a:solidFill>
          <a:ln w="12700" cap="flat" cmpd="sng">
            <a:solidFill>
              <a:srgbClr val="0272C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3"/>
          <p:cNvSpPr/>
          <p:nvPr/>
        </p:nvSpPr>
        <p:spPr>
          <a:xfrm>
            <a:off x="0" y="0"/>
            <a:ext cx="9144000" cy="1072515"/>
          </a:xfrm>
          <a:prstGeom prst="rect">
            <a:avLst/>
          </a:prstGeom>
          <a:solidFill>
            <a:srgbClr val="0272C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3"/>
          <p:cNvSpPr txBox="1"/>
          <p:nvPr/>
        </p:nvSpPr>
        <p:spPr>
          <a:xfrm>
            <a:off x="2943464" y="289084"/>
            <a:ext cx="3257074" cy="391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1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3. Flavors</a:t>
            </a:r>
            <a:endParaRPr sz="21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3"/>
          <p:cNvSpPr/>
          <p:nvPr/>
        </p:nvSpPr>
        <p:spPr>
          <a:xfrm rot="10800000" flipH="1">
            <a:off x="4438650" y="1072515"/>
            <a:ext cx="265747" cy="265748"/>
          </a:xfrm>
          <a:prstGeom prst="triangle">
            <a:avLst>
              <a:gd name="adj" fmla="val 50000"/>
            </a:avLst>
          </a:prstGeom>
          <a:solidFill>
            <a:srgbClr val="0272C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3"/>
          <p:cNvSpPr txBox="1"/>
          <p:nvPr/>
        </p:nvSpPr>
        <p:spPr>
          <a:xfrm>
            <a:off x="2946321" y="680561"/>
            <a:ext cx="3251359" cy="230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60 types of flowers 4 flavors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8" name="Google Shape;278;p33" descr="60种花型"/>
          <p:cNvPicPr preferRelativeResize="0"/>
          <p:nvPr/>
        </p:nvPicPr>
        <p:blipFill rotWithShape="1">
          <a:blip r:embed="rId3">
            <a:alphaModFix/>
          </a:blip>
          <a:srcRect l="6667" t="15213" r="8631" b="46361"/>
          <a:stretch/>
        </p:blipFill>
        <p:spPr>
          <a:xfrm>
            <a:off x="2085499" y="1774984"/>
            <a:ext cx="4971574" cy="3190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4"/>
          <p:cNvSpPr txBox="1"/>
          <p:nvPr/>
        </p:nvSpPr>
        <p:spPr>
          <a:xfrm>
            <a:off x="1295876" y="221456"/>
            <a:ext cx="6552248" cy="391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100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4. Backend monitoring</a:t>
            </a:r>
            <a:endParaRPr sz="2100" dirty="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4" name="Google Shape;284;p34"/>
          <p:cNvGrpSpPr/>
          <p:nvPr/>
        </p:nvGrpSpPr>
        <p:grpSpPr>
          <a:xfrm>
            <a:off x="467201" y="1191816"/>
            <a:ext cx="2750820" cy="845820"/>
            <a:chOff x="1545" y="2165"/>
            <a:chExt cx="5776" cy="1776"/>
          </a:xfrm>
        </p:grpSpPr>
        <p:sp>
          <p:nvSpPr>
            <p:cNvPr id="285" name="Google Shape;285;p34"/>
            <p:cNvSpPr txBox="1"/>
            <p:nvPr/>
          </p:nvSpPr>
          <p:spPr>
            <a:xfrm>
              <a:off x="1545" y="2165"/>
              <a:ext cx="5776" cy="5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1400">
                  <a:solidFill>
                    <a:srgbClr val="0272C5"/>
                  </a:solidFill>
                  <a:latin typeface="Arial"/>
                  <a:ea typeface="Arial"/>
                  <a:cs typeface="Arial"/>
                  <a:sym typeface="Arial"/>
                </a:rPr>
                <a:t>①、Remote operation</a:t>
              </a:r>
              <a:endParaRPr sz="1400">
                <a:solidFill>
                  <a:srgbClr val="0272C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34"/>
            <p:cNvSpPr txBox="1"/>
            <p:nvPr/>
          </p:nvSpPr>
          <p:spPr>
            <a:xfrm>
              <a:off x="1545" y="2780"/>
              <a:ext cx="5776" cy="11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1100">
                  <a:solidFill>
                    <a:srgbClr val="0272C5"/>
                  </a:solidFill>
                  <a:latin typeface="Arial"/>
                  <a:ea typeface="Arial"/>
                  <a:cs typeface="Arial"/>
                  <a:sym typeface="Arial"/>
                </a:rPr>
                <a:t> All operation functions are displayed in the background of the mobile phone.</a:t>
              </a:r>
              <a:endParaRPr sz="1100">
                <a:solidFill>
                  <a:srgbClr val="0272C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7" name="Google Shape;287;p34"/>
          <p:cNvGrpSpPr/>
          <p:nvPr/>
        </p:nvGrpSpPr>
        <p:grpSpPr>
          <a:xfrm>
            <a:off x="467201" y="2490074"/>
            <a:ext cx="2796064" cy="845820"/>
            <a:chOff x="1545" y="2165"/>
            <a:chExt cx="5871" cy="1776"/>
          </a:xfrm>
        </p:grpSpPr>
        <p:sp>
          <p:nvSpPr>
            <p:cNvPr id="288" name="Google Shape;288;p34"/>
            <p:cNvSpPr txBox="1"/>
            <p:nvPr/>
          </p:nvSpPr>
          <p:spPr>
            <a:xfrm>
              <a:off x="1545" y="2165"/>
              <a:ext cx="5871" cy="5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1400">
                  <a:solidFill>
                    <a:srgbClr val="0272C5"/>
                  </a:solidFill>
                  <a:latin typeface="Arial"/>
                  <a:ea typeface="Arial"/>
                  <a:cs typeface="Arial"/>
                  <a:sym typeface="Arial"/>
                </a:rPr>
                <a:t>③、Sales data viewing</a:t>
              </a:r>
              <a:endParaRPr sz="1400">
                <a:solidFill>
                  <a:srgbClr val="0272C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34"/>
            <p:cNvSpPr txBox="1"/>
            <p:nvPr/>
          </p:nvSpPr>
          <p:spPr>
            <a:xfrm>
              <a:off x="1545" y="2780"/>
              <a:ext cx="5776" cy="11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1100">
                  <a:solidFill>
                    <a:srgbClr val="0272C5"/>
                  </a:solidFill>
                  <a:latin typeface="Arial"/>
                  <a:ea typeface="Arial"/>
                  <a:cs typeface="Arial"/>
                  <a:sym typeface="Arial"/>
                </a:rPr>
                <a:t>Comprehensive data, daily sales quantity, and revenue are clearly visible.</a:t>
              </a:r>
              <a:endParaRPr sz="1100">
                <a:solidFill>
                  <a:srgbClr val="0272C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0" name="Google Shape;290;p34"/>
          <p:cNvGrpSpPr/>
          <p:nvPr/>
        </p:nvGrpSpPr>
        <p:grpSpPr>
          <a:xfrm>
            <a:off x="5786676" y="1177766"/>
            <a:ext cx="2913221" cy="1116330"/>
            <a:chOff x="1204" y="2249"/>
            <a:chExt cx="6117" cy="2344"/>
          </a:xfrm>
        </p:grpSpPr>
        <p:sp>
          <p:nvSpPr>
            <p:cNvPr id="291" name="Google Shape;291;p34"/>
            <p:cNvSpPr txBox="1"/>
            <p:nvPr/>
          </p:nvSpPr>
          <p:spPr>
            <a:xfrm>
              <a:off x="1204" y="2249"/>
              <a:ext cx="6117" cy="5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1400">
                  <a:solidFill>
                    <a:srgbClr val="0272C5"/>
                  </a:solidFill>
                  <a:latin typeface="Arial"/>
                  <a:ea typeface="Arial"/>
                  <a:cs typeface="Arial"/>
                  <a:sym typeface="Arial"/>
                </a:rPr>
                <a:t>②、Automatic power on and off</a:t>
              </a:r>
              <a:endParaRPr sz="1400">
                <a:solidFill>
                  <a:srgbClr val="0272C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34"/>
            <p:cNvSpPr txBox="1"/>
            <p:nvPr/>
          </p:nvSpPr>
          <p:spPr>
            <a:xfrm>
              <a:off x="1545" y="2923"/>
              <a:ext cx="5776" cy="1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1100">
                  <a:solidFill>
                    <a:srgbClr val="0272C5"/>
                  </a:solidFill>
                  <a:latin typeface="Arial"/>
                  <a:ea typeface="Arial"/>
                  <a:cs typeface="Arial"/>
                  <a:sym typeface="Arial"/>
                </a:rPr>
                <a:t>Automatically power on and off after setting the power on and off time in the background.</a:t>
              </a:r>
              <a:endParaRPr sz="1100">
                <a:solidFill>
                  <a:srgbClr val="0272C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3" name="Google Shape;293;p34"/>
          <p:cNvGrpSpPr/>
          <p:nvPr/>
        </p:nvGrpSpPr>
        <p:grpSpPr>
          <a:xfrm>
            <a:off x="5949077" y="2526982"/>
            <a:ext cx="2750820" cy="805815"/>
            <a:chOff x="1545" y="2249"/>
            <a:chExt cx="5776" cy="1692"/>
          </a:xfrm>
        </p:grpSpPr>
        <p:sp>
          <p:nvSpPr>
            <p:cNvPr id="294" name="Google Shape;294;p34"/>
            <p:cNvSpPr txBox="1"/>
            <p:nvPr/>
          </p:nvSpPr>
          <p:spPr>
            <a:xfrm>
              <a:off x="1975" y="2249"/>
              <a:ext cx="5346" cy="5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1400">
                  <a:solidFill>
                    <a:srgbClr val="0272C5"/>
                  </a:solidFill>
                  <a:latin typeface="Arial"/>
                  <a:ea typeface="Arial"/>
                  <a:cs typeface="Arial"/>
                  <a:sym typeface="Arial"/>
                </a:rPr>
                <a:t>④、Material monitoring</a:t>
              </a:r>
              <a:endParaRPr sz="1400">
                <a:solidFill>
                  <a:srgbClr val="0272C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34"/>
            <p:cNvSpPr txBox="1"/>
            <p:nvPr/>
          </p:nvSpPr>
          <p:spPr>
            <a:xfrm>
              <a:off x="1545" y="2780"/>
              <a:ext cx="5776" cy="11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1100">
                  <a:solidFill>
                    <a:srgbClr val="0272C5"/>
                  </a:solidFill>
                  <a:latin typeface="Arial"/>
                  <a:ea typeface="Arial"/>
                  <a:cs typeface="Arial"/>
                  <a:sym typeface="Arial"/>
                </a:rPr>
                <a:t>Real-time monitoring of materials, inventory shortage, and message warning.</a:t>
              </a:r>
              <a:endParaRPr sz="1100">
                <a:solidFill>
                  <a:srgbClr val="0272C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6" name="Google Shape;296;p34"/>
          <p:cNvSpPr/>
          <p:nvPr/>
        </p:nvSpPr>
        <p:spPr>
          <a:xfrm>
            <a:off x="4037648" y="2316480"/>
            <a:ext cx="1168718" cy="10063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272C5"/>
          </a:solidFill>
          <a:ln w="12700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7" name="Google Shape;297;p34"/>
          <p:cNvGrpSpPr/>
          <p:nvPr/>
        </p:nvGrpSpPr>
        <p:grpSpPr>
          <a:xfrm>
            <a:off x="467201" y="3788331"/>
            <a:ext cx="2750820" cy="845820"/>
            <a:chOff x="1545" y="2165"/>
            <a:chExt cx="5776" cy="1776"/>
          </a:xfrm>
        </p:grpSpPr>
        <p:sp>
          <p:nvSpPr>
            <p:cNvPr id="298" name="Google Shape;298;p34"/>
            <p:cNvSpPr txBox="1"/>
            <p:nvPr/>
          </p:nvSpPr>
          <p:spPr>
            <a:xfrm>
              <a:off x="1545" y="2165"/>
              <a:ext cx="5649" cy="5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1400">
                  <a:solidFill>
                    <a:srgbClr val="0272C5"/>
                  </a:solidFill>
                  <a:latin typeface="Arial"/>
                  <a:ea typeface="Arial"/>
                  <a:cs typeface="Arial"/>
                  <a:sym typeface="Arial"/>
                </a:rPr>
                <a:t>⑤、Alarm reminder  </a:t>
              </a:r>
              <a:endParaRPr sz="1400">
                <a:solidFill>
                  <a:srgbClr val="0272C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34"/>
            <p:cNvSpPr txBox="1"/>
            <p:nvPr/>
          </p:nvSpPr>
          <p:spPr>
            <a:xfrm>
              <a:off x="1545" y="2780"/>
              <a:ext cx="5776" cy="11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1100">
                  <a:solidFill>
                    <a:srgbClr val="0272C5"/>
                  </a:solidFill>
                  <a:latin typeface="Arial"/>
                  <a:ea typeface="Arial"/>
                  <a:cs typeface="Arial"/>
                  <a:sym typeface="Arial"/>
                </a:rPr>
                <a:t>In case of material shortage, machine failure, etc., timely alarm reminder.</a:t>
              </a:r>
              <a:endParaRPr sz="1100">
                <a:solidFill>
                  <a:srgbClr val="0272C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0" name="Google Shape;300;p34"/>
          <p:cNvGrpSpPr/>
          <p:nvPr/>
        </p:nvGrpSpPr>
        <p:grpSpPr>
          <a:xfrm>
            <a:off x="5949077" y="3808095"/>
            <a:ext cx="2750820" cy="1048226"/>
            <a:chOff x="1545" y="2249"/>
            <a:chExt cx="5776" cy="2201"/>
          </a:xfrm>
        </p:grpSpPr>
        <p:sp>
          <p:nvSpPr>
            <p:cNvPr id="301" name="Google Shape;301;p34"/>
            <p:cNvSpPr txBox="1"/>
            <p:nvPr/>
          </p:nvSpPr>
          <p:spPr>
            <a:xfrm>
              <a:off x="1721" y="2249"/>
              <a:ext cx="5600" cy="5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1400">
                  <a:solidFill>
                    <a:srgbClr val="0272C5"/>
                  </a:solidFill>
                  <a:latin typeface="Arial"/>
                  <a:ea typeface="Arial"/>
                  <a:cs typeface="Arial"/>
                  <a:sym typeface="Arial"/>
                </a:rPr>
                <a:t>⑥、Parameter setting</a:t>
              </a:r>
              <a:endParaRPr sz="1400">
                <a:solidFill>
                  <a:srgbClr val="0272C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34"/>
            <p:cNvSpPr txBox="1"/>
            <p:nvPr/>
          </p:nvSpPr>
          <p:spPr>
            <a:xfrm>
              <a:off x="1545" y="2780"/>
              <a:ext cx="5776" cy="1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1100">
                  <a:solidFill>
                    <a:srgbClr val="0272C5"/>
                  </a:solidFill>
                  <a:latin typeface="Arial"/>
                  <a:ea typeface="Arial"/>
                  <a:cs typeface="Arial"/>
                  <a:sym typeface="Arial"/>
                </a:rPr>
                <a:t>Such as language, pattern, amount, material, etc. can be set at any time in the background.</a:t>
              </a:r>
              <a:endParaRPr sz="1100">
                <a:solidFill>
                  <a:srgbClr val="0272C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3" name="Google Shape;303;p34"/>
          <p:cNvSpPr/>
          <p:nvPr/>
        </p:nvSpPr>
        <p:spPr>
          <a:xfrm rot="-1800000">
            <a:off x="5345906" y="1793558"/>
            <a:ext cx="514350" cy="25527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rgbClr val="0272C5"/>
          </a:solidFill>
          <a:ln w="12700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4"/>
          <p:cNvSpPr/>
          <p:nvPr/>
        </p:nvSpPr>
        <p:spPr>
          <a:xfrm rot="2580000">
            <a:off x="5310188" y="3578066"/>
            <a:ext cx="514350" cy="25527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rgbClr val="0272C5"/>
          </a:solidFill>
          <a:ln w="12700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4"/>
          <p:cNvSpPr/>
          <p:nvPr/>
        </p:nvSpPr>
        <p:spPr>
          <a:xfrm>
            <a:off x="5295900" y="2694146"/>
            <a:ext cx="514350" cy="25527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rgbClr val="0272C5"/>
          </a:solidFill>
          <a:ln w="12700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4"/>
          <p:cNvSpPr/>
          <p:nvPr/>
        </p:nvSpPr>
        <p:spPr>
          <a:xfrm rot="8880000">
            <a:off x="3413284" y="3631883"/>
            <a:ext cx="514350" cy="25527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rgbClr val="0272C5"/>
          </a:solidFill>
          <a:ln w="12700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4"/>
          <p:cNvSpPr/>
          <p:nvPr/>
        </p:nvSpPr>
        <p:spPr>
          <a:xfrm rot="-8100000">
            <a:off x="3469005" y="1799272"/>
            <a:ext cx="514350" cy="25527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rgbClr val="0272C5"/>
          </a:solidFill>
          <a:ln w="12700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4"/>
          <p:cNvSpPr/>
          <p:nvPr/>
        </p:nvSpPr>
        <p:spPr>
          <a:xfrm rot="10800000">
            <a:off x="3429000" y="2694146"/>
            <a:ext cx="514350" cy="25527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rgbClr val="0272C5"/>
          </a:solidFill>
          <a:ln w="12700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2CB9E3C-3905-D9B0-1D7A-A3E3D3E9B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24" y="876678"/>
            <a:ext cx="2695327" cy="179823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C8E7C7C-C538-4089-39A4-49FB50D1E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261" y="2804882"/>
            <a:ext cx="4201635" cy="179358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16FFE8-7088-14C2-C10E-F6FF097DC2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3906" y="917241"/>
            <a:ext cx="4301197" cy="171711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5445C82-8866-3BB8-2115-5AAFCE1BEA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9130" y="2804882"/>
            <a:ext cx="4301197" cy="1793583"/>
          </a:xfrm>
          <a:prstGeom prst="rect">
            <a:avLst/>
          </a:prstGeom>
        </p:spPr>
      </p:pic>
      <p:sp>
        <p:nvSpPr>
          <p:cNvPr id="12" name="Google Shape;283;p34">
            <a:extLst>
              <a:ext uri="{FF2B5EF4-FFF2-40B4-BE49-F238E27FC236}">
                <a16:creationId xmlns:a16="http://schemas.microsoft.com/office/drawing/2014/main" id="{8BE09A4F-5F2B-0334-7B22-E165C3B12FB6}"/>
              </a:ext>
            </a:extLst>
          </p:cNvPr>
          <p:cNvSpPr txBox="1"/>
          <p:nvPr/>
        </p:nvSpPr>
        <p:spPr>
          <a:xfrm>
            <a:off x="1295876" y="221456"/>
            <a:ext cx="6552248" cy="391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100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5. Certification </a:t>
            </a:r>
            <a:endParaRPr sz="2100" dirty="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179244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切片">
  <a:themeElements>
    <a:clrScheme name="切片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切片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切片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339</Words>
  <Application>Microsoft Office PowerPoint</Application>
  <PresentationFormat>On-screen Show (16:9)</PresentationFormat>
  <Paragraphs>62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Century Gothic</vt:lpstr>
      <vt:lpstr>Wingdings 3</vt:lpstr>
      <vt:lpstr>Simple Light</vt:lpstr>
      <vt:lpstr>切片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yao</dc:creator>
  <cp:lastModifiedBy>Yao Shiquan</cp:lastModifiedBy>
  <cp:revision>25</cp:revision>
  <dcterms:modified xsi:type="dcterms:W3CDTF">2026-09-20T17:50:50Z</dcterms:modified>
</cp:coreProperties>
</file>